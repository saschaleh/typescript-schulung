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74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7" r:id="rId132"/>
    <p:sldId id="388" r:id="rId133"/>
    <p:sldId id="389" r:id="rId134"/>
    <p:sldId id="390" r:id="rId135"/>
    <p:sldId id="391" r:id="rId136"/>
    <p:sldId id="392" r:id="rId137"/>
    <p:sldId id="394" r:id="rId1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01"/>
    <p:restoredTop sz="94610"/>
  </p:normalViewPr>
  <p:slideViewPr>
    <p:cSldViewPr snapToGrid="0" snapToObjects="1">
      <p:cViewPr varScale="1">
        <p:scale>
          <a:sx n="277" d="100"/>
          <a:sy n="277" d="100"/>
        </p:scale>
        <p:origin x="12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35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6761" y="1512689"/>
            <a:ext cx="59704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Workshop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139848" y="2427089"/>
            <a:ext cx="6864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Programmier-Workshop mit Übungen und ChatGPT-Unterstützung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07738" y="2899470"/>
            <a:ext cx="19283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Tage | 9:00 - 16:00 Uhr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911801" y="3444180"/>
            <a:ext cx="13203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GFU Cyrus AG |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Überblick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Grundlagen &amp; Typsystem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OOP &amp; Interfaces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Advanced Types &amp; Async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Practices &amp; Angular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265" y="2023170"/>
            <a:ext cx="118346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65113" y="2800350"/>
            <a:ext cx="26137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Grundlagen &amp; Typsystem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74119"/>
            <a:ext cx="7924800" cy="205978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TypeScript?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Superset von JavaScript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Statische Typisierung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Kompiliert zu JavaScript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626519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TypeScript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762000" y="2883991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add(a: number, b: number): number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14400" y="306526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 + b;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62000" y="3246537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62000" y="3580209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JavaScript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2000" y="3837682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add(a, b) {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14400" y="401895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 + b;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62000" y="4200227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TypeScript?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 Fehlererkennung durch statische Analyse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Bessere IDE-Unterstützung &amp; IntelliSense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Verbesserte Code-Wartbarkeit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Selbstdokumentierender Code durch Typen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Entwicklungsumgebung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npm installieren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Compiler: npm install -g typescript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 als empfohlene 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tsconfig.json für Projekt-Konfiguration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Tooling-Setup (Teaser)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für konsistente Code-Regeln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Prettier für automatische Formatierung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Extensions installieren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on Save aktivieren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42022"/>
            <a:ext cx="7924800" cy="16918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Basis-Datentypen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- Zahlen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- Zeichenketten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- true/false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- vermeiden!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994422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age: number = 25;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762000" y="3175695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name: string = "Max";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62000" y="3356967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isActive: boolean = true;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62000" y="3690640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Type Inference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62000" y="3871913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count = 10; // number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vs unknown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any: Schaltet TypeScript komplett aus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unknown: TypeScript bleibt aktiv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erzwingt Type-Checking vor Nutzung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Merksatz: unknown ist das sichere any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vs unknown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any: Keine Prüfung - Gefährlich!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userInput: any = "Hallo";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7645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userInput.toUpperCase();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OK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userInput = 42;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1270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userInput.toUpperCase();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Kompiliert, crasht zur Laufzeit! ✗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unknown: Prüfung erforderlich - Sicher!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data: unknown = "Hallo";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8232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(typeof data === "string") {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90600" y="300454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data.toUpperCase();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OK, nur nach Check ✓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318581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42022"/>
            <a:ext cx="7924800" cy="16918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wichtige Typen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- Listen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- Feste Länge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- Konstanten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- Typsicher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994422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nums: number[] = [1, 2, 3];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762000" y="3251895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coord: [number, number] = [10, 20];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62000" y="3509367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enum Color { Red, Green, Blue 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62000" y="3690640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c: Color = Color.Red;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42022"/>
            <a:ext cx="7924800" cy="16918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Funktionen in TypeScript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typisieren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Rückgabetypen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Optionale Parameter ?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Default-Werte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994422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greet(name: string): string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14400" y="317569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"Hello " + name;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62000" y="3356967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62000" y="3614440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build(name: string, age?: number) {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14400" y="3795713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age ist optional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2000" y="3976985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'this' Keyword - Das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'this' hängt ab von WIE Funktion aufgerufen wird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von WO sie definiert wurde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Häufige Fehlerquelle!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kann helfen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'this' - Klassisches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person =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name: "Anna",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grüßen: function()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143000" y="1945779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console.log("Hallo, ich bin " + this.name);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1270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3083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person.grüßen();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"Hallo, ich bin Anna" ✓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grußFunktion = person.grüßen;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1569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grußFunktion();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"Hallo, ich bin undefined" ✗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'this' - Event Handler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Button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label: string = "Klick mich";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8407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handleClick()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143000" y="2021979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console.log(this.label);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Problem!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2032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3845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7181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btn = new Button();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'this' zeigt auf button Element, nicht auf Button Instanz!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1569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button.addEventListener("click", btn.handleClick);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'this' - Lösung 1: Arrow Functions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 hat KEIN eigenes 'this'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Nimmt 'this' aus umgebender Klasse (lexikalisch)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'this' wird beim Erstellen "eingefroren"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Egal wie aufgerufen - 'this' bleibt gleich!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 - Warum funktioniert's?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Button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label: string = "Klick mich";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8407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Arrow Function als Property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20219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handleClick = () =&gt; {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143000" y="220325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'this' = Button Instanz (immer!)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3845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console.log(this.label);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Funktioniert! ✓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5657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7470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0807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btn = new Button();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326201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button.addEventListener("click", btn.handleClick);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3443288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✓ 'this' bleibt Button Instanz, nicht button Element!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'this' - Lösung 2: bind()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bind() erstellt NEUE Funktion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fest gebundenem 'this'-Wert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Egal wer aufruft - 'this' ist fixiert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 im Constructor gemacht werden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bind() - Was passiert genau?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Button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label: string = "Klick mich";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8407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constructor()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143000" y="2021979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bind() gibt NEUE Funktion zurück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143000" y="220325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mit 'this' permanent = Button Instanz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3845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this.handleClick = this.handleClick.bind(this);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5657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8232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handleClick() {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143000" y="300454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console.log(this.label);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Funktioniert! ✓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90600" y="3185815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3367088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bind() - Schritt für Schritt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1. Original-Methode (loses 'this')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handleClick() { console.log(this.label); }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9169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2. bind() erstellt neue Funktion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981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boundFunction = originalFunction.bind(btn);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4318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3. Neue Funktion ersetzt alte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6131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this.handleClick = boundFunction;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9467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Jetzt: handleClick hat IMMER 'this' = btn ✓</a:t>
            </a:r>
            <a:endParaRPr lang="en-US" sz="10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9191" y="1440359"/>
            <a:ext cx="294561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 für 'this'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22215" y="2156520"/>
            <a:ext cx="369942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Normale Funktionen: 'this' = Aufrufer</a:t>
            </a:r>
            <a:endParaRPr lang="en-US" sz="15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Arrow Functions: 'this' = umgebende Klasse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85318" y="3223320"/>
            <a:ext cx="3573363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Event Handlers &amp; Callbacks:</a:t>
            </a:r>
            <a:endParaRPr lang="en-US" sz="13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Immer Arrow Functions oder bind() verwenden!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 - Die Lösung!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ES6 Lösung für das 'this'-Problem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eigenes 'this' (lexikalisches this)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Kürzere Syntax mit =&gt;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Implizites return bei Einzeilern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vs Reguläre Funktion - Syntax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Reguläre Funktion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add(a: number, b: number): number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 + b;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Arrow Function - Lang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add = (a: number, b: number): number =&gt; {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6419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 + b;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8232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1569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Arrow Function - Kurz (implizites return)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333821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add = (a: number, b: number): number =&gt; a + b;</a:t>
            </a:r>
            <a:endParaRPr lang="en-US" sz="10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 lösen 'this'-Problem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Timer {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990600" y="1572518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seconds: number = 0;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90600" y="181927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Reguläre Funktion - 'this' Problem!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990600" y="1989832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startBroken() {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1143000" y="2160389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setInterval(function() {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295400" y="2330946"/>
            <a:ext cx="715060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this.seconds++;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Error: 'this' ist undefined ✗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143000" y="2501503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}, 1000);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990600" y="2672060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990600" y="2918817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Arrow Function - 'this' funktioniert! ✓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990600" y="3089374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startWorking() {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143000" y="3259931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setInterval(() =&gt; {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1295400" y="3430488"/>
            <a:ext cx="715060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this.seconds++;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OK: 'this' = Timer ✓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1143000" y="3601045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}, 1000);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990600" y="3771602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38200" y="3942159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Functions in Array-Methoden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numbers: number[] = [1, 2, 3, 4, 5];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7356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map mit Arrow Function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9169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doubled = numbers.map(n =&gt; n * 2);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2505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filter mit Arrow Function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4318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evens = numbers.filter(n =&gt; n % 2 === 0);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7655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reduce mit Arrow Function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9467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sum = numbers.reduce((acc, n) =&gt; acc + n, 0);</a:t>
            </a:r>
            <a:endParaRPr lang="en-US" sz="10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Praktisches Beispiel - Event Listener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ClickCounter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count: number = 0;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8407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attachListener()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143000" y="2021979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Arrow Function behält 'this' von ClickCounter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143000" y="220325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button.addEventListener('click', () =&gt; {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295400" y="2384524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this.count++;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Funktioniert! ✓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295400" y="2565797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console.log(`Clicks: ${this.count}`);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143000" y="2747070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90600" y="292834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310961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Unterschiede zu beachten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'arguments' Objekt verfügbar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Können nicht als Konstruktor verwendet werden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'super' Keyword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für Callbacks &amp; funktionale Programmierung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welche Funktion verwenden?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Callbacks, Event Listener, Array-Methoden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Wenn 'this' der umgebenden Klasse benötigt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Regulär: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Methoden in Klassen (wenn nicht als Property)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Regulär: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Wenn eigenes 'this' benötigt wird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- Was ist das?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"merkt sich" ihre Umgebung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Zugriff auf äußere Variablen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nach Ende der äußeren Funktion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Closure hat eigenen "Speicher"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- Einfaches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Äußere Funktion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38200" y="1593949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erstelleZähler() {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990600" y="1785938"/>
            <a:ext cx="746150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count = 0;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Private Variable!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90600" y="2054126"/>
            <a:ext cx="746150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function() {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143000" y="2246114"/>
            <a:ext cx="730605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count++;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Zugriff auf count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143000" y="2438102"/>
            <a:ext cx="730605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count;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90600" y="2630091"/>
            <a:ext cx="746150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2822079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38200" y="3166467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zähler1 = erstelleZähler();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8200" y="3358455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console.log(zähler1());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38200" y="3550444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console.log(zähler1());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2</a:t>
            </a:r>
            <a:endParaRPr lang="en-US" sz="10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- Mehrere Instanzen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zähler1 = erstelleZähler();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38200" y="1593949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zähler2 = erstelleZähler();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38200" y="1938337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console.log(zähler1());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200" y="2130326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console.log(zähler1());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2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474714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console.log(zähler2());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 (eigener Speicher!)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2666702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console.log(zähler2());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2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01109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console.log(zähler1()); </a:t>
            </a:r>
            <a:r>
              <a:rPr lang="en-US" sz="108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3 (unabhängig!)</a:t>
            </a:r>
            <a:endParaRPr lang="en-US" sz="10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- Praxisbeispiel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Passwort-Validator mit privatem Zustand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erstelleValidator(minLänge: number)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versuche = 0;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20219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function(passwort: string): boolean {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143000" y="220325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versuche++;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3845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(passwort.length &lt; minLänge) {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295400" y="2565797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console.log(`Versuch ${versuche}: Zu kurz!`);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295400" y="2747070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false;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143000" y="292834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143000" y="3109615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true;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90600" y="3290888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38200" y="347216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Bubbling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"blubbern" von innen nach außen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→ Eltern → Großeltern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stopPropagation() stoppt das Bubbling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Wichtig für Event Delegation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ChatGPT-Integration Tag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Erklärung von Compiler-Fehlern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Code-Beispiele generieren lassen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Testfälle mit Jest erstellen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Fakultätsfunktion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Implementierung einer Fakultätsfunktion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Typisierung von Parameter &amp; Rückgabewert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Jest-Tests schreiben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zur Unterstützung nutzen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265" y="2023170"/>
            <a:ext cx="118346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60414" y="2800350"/>
            <a:ext cx="18230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&amp; Interfaces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Objekte in TypeScript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Objektliterale mit Typdefinition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Optionale Properties mit 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Readonly Properties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Signatures für dynamische Keys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21446"/>
            <a:ext cx="7924800" cy="201245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Strukturierung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Typkontrakte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Erweiterbar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673846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interface User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14400" y="285511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name: string;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14400" y="303639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age: number;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14400" y="321766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email?: string;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62000" y="3398937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2000" y="3656409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user: User = {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14400" y="383768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name: "Anna",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14400" y="401895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age: 30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62000" y="4200227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sind Type Aliases?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Alternativer Name für einen Typ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Definiert mit 'type' Keyword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 jeden Typ beschreiben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Union, Intersection, Primitives, Objekte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Alias - Beispiele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Primitive Typen Alias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type UserID = number;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7645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type Username = string;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981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Objekt-Typen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type User = {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46072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id: UserID;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6419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name: Username;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8232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age: number;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0045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333821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Verwendung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3519488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user: User = { id: 1, name: "Max", age: 30 };</a:t>
            </a:r>
            <a:endParaRPr lang="en-US" sz="10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vs Type Alias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sind erweiterbar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Aliases für Union &amp; Intersection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für Objekt-Strukturen nutzbar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Interface für Objekte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02706"/>
            <a:ext cx="7924800" cy="193119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Klassen - Grundlagen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Konstruktoren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755106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Person {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292566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private name: string;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914400" y="314191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constructor(name: string) {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1066800" y="3312468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this.name = name;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14400" y="348302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914400" y="369927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greet() {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1066800" y="3869829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`Hi ${this.name}`;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914400" y="4040386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762000" y="4210943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Zugriffsmodifikatoren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- Überall zugreifbar (Standard)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- Nur innerhalb der Klasse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- Klasse &amp; Unterklassen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readonly - Nur bei Initialisierung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712244"/>
            <a:ext cx="7924800" cy="182165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Vererbung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für Vererbung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super() aufrufen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Methoden überschreiben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864644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Animal {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303520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move() { console.log("Moving"); }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762000" y="3205758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62000" y="3452515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Dog extends Animal {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14400" y="362307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bark() { console.log("Woof!"); }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762000" y="3793629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62000" y="4040386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dog = new Dog();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62000" y="4210943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dog.move(); // "Moving"</a:t>
            </a:r>
            <a:endParaRPr lang="en-US" sz="9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Schnittstelle, unterschiedliches Verhalten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Overriding in Unterklassen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für polymorphes Verhalten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Auto-Klasse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Car mit Properties erstellen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Methoden accelerate() &amp; brake()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Geschwindigkeitsbegrenzung implementieren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schreiben mit ChatGPT-Hilfe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265" y="2023170"/>
            <a:ext cx="118346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58436" y="2800350"/>
            <a:ext cx="26269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Types &amp; Async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15530"/>
            <a:ext cx="7924800" cy="17183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Types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Typen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Guards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Narrowing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967930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print(value: string | number)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14400" y="3149203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(typeof value === "string")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066800" y="333047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console.log(value.toUpperCase());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14400" y="3511748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 else {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066800" y="3693021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console.log(value.toFixed(2));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14400" y="387429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62000" y="4055566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 Types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Typen zu einem kombinieren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Properties müssen vorhanden sein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 Type1 &amp; Type2 &amp; Type3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Nützlich für Mixins &amp; Komposition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- Was ist das Problem?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soll mit verschiedenen Typen arbeiten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verliert Typ-Sicherheit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jeden Typ eigene Funktion? Code-Duplikation!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= Die Lösung! ✓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 ohne Generics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Mit any - Keine Typ-Sicherheit ✗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identity(arg: any): any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arg;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result = identity("Hello");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result.toUpperCase();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Kein IntelliSense! ✗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7943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Code-Duplikation ✗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identityString(arg: string): string { ... }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1569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identityNumber(arg: number): number { ... }</a:t>
            </a:r>
            <a:endParaRPr lang="en-US" sz="102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Lösung: Generics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Generic Function - Typ wird übergeben!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identity&lt;T&gt;(arg: T): T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arg;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Verwendung - Typ wird automatisch erkannt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str = identity("Hello");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string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str.toUpperCase();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IntelliSense funktioniert! ✓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num = identity(42);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number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1569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num.toFixed(2);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✓</a:t>
            </a:r>
            <a:endParaRPr lang="en-US" sz="10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Syntax verstehen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&lt;T&gt; = Typ-Parameter (wie Funktionsparameter)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ist Platzhalter für echten Typ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 beliebig benannt werden (T, Type, K, V...)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bei Aufruf mit echtem Typ ersetzt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Praktisches Beispiel - Array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Erstes Element aus Array zurückgeben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getFirst&lt;T&gt;(array: T[]): T | undefined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array[0];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numbers = [1, 2, 3];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first = getFirst(numbers);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number | undefined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7943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names = ["Anna", "Max"];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firstName = getFirst(names);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string | undefined</a:t>
            </a:r>
            <a:endParaRPr lang="en-US" sz="102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Generische Interfaces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API Response mit generischem Datentyp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interface ApiResponse&lt;T&gt;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data: T;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9457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number;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1270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message: string;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3083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userResponse: ApiResponse&lt;User&gt; = {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8232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data: { name: "Max", age: 30 },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90600" y="300454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200,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90600" y="3185815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message: "Success"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3367088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};</a:t>
            </a:r>
            <a:endParaRPr lang="en-US" sz="102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Generische Klassen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Box&lt;T&gt; {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990600" y="1572518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private content: T;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90600" y="181927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constructor(value: T) {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1143000" y="1989832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this.content = value;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990600" y="2160389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90600" y="2407146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getValue(): T {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143000" y="2577703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this.content;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990600" y="2748260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29188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38200" y="3241774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numberBox = new Box&lt;number&gt;(123);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38200" y="341233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stringBox = new Box&lt;string&gt;("Hello");</a:t>
            </a:r>
            <a:endParaRPr lang="en-US" sz="9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Constraints - Einschränkungen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kann zu "frei" sein - jeder Typ erlaubt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schränkt erlaubte Typen ein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Zugriff auf bestimmte Properties garantiert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Verhindert unsichere Operationen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Nur Objekte mit 'length' Property erlaubt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getLength&lt;T extends { length: number }&gt;(arg: T): number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arg.length;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Sicher! ✓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getLength("Hello");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OK - string hat length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getLength([1, 2, 3]);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OK - array hat length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getLength(123);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Error - number hat keine length ✗</a:t>
            </a:r>
            <a:endParaRPr lang="en-US" sz="102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Typparameter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Key-Value Pair mit zwei Typen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createPair&lt;K, V&gt;(key: K, value: V): [K, V]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[key, value];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pair1 = createPair("age", 25);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[string, number]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7943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pair2 = createPair(1, "first");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[number, string]</a:t>
            </a:r>
            <a:endParaRPr lang="en-US" sz="10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in der Praxis - Array Methods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Array.map ist generisch!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numbers: number[] = [1, 2, 3];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9169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map&lt;U&gt;(callback: (value: T) =&gt; U): U[]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981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strings = numbers.map(n =&gt; n.toString());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string[] - Typ automatisch erkannt! ✓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6131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doubled = numbers.map(n =&gt; n * 2);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7943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number[] ✓</a:t>
            </a:r>
            <a:endParaRPr lang="en-US" sz="102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mit Promise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Promise&lt;T&gt; für typisierte async Operationen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 function fetchUser(id: number): Promise&lt;User&gt;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response = await fetch(`/api/users/${id}`);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9457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response.json();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User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1270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TypeScript weiß: user ist vom Typ User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user = await fetchUser(1);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8232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console.log(user.name);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IntelliSense! ✓</a:t>
            </a:r>
            <a:endParaRPr lang="en-US" sz="102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Praktisches Beispiel - Filter Funktion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filterArray&lt;T&gt;(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990600" y="1572518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array: T[],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90600" y="174307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predicate: (item: T) =&gt; boolean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38200" y="191363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): T[] {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990600" y="2084189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array.filter(predicate);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38200" y="2254746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38200" y="257770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nums = [1, 2, 3, 4, 5];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38200" y="2748260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evens = filterArray(nums, n =&gt; n % 2 === 0);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29188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number[] = [2, 4]</a:t>
            </a:r>
            <a:endParaRPr lang="en-US" sz="9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Generics verwenden?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 arbeitet mit verschiedenen Typen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Typ-Sicherheit muss erhalten bleiben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Code-Duplikation vermeiden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Wiederverwendbare Komponenten/Utilities</a:t>
            </a:r>
            <a:endParaRPr lang="en-US" sz="13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9606" y="1440359"/>
            <a:ext cx="330478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- Merksatz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47640" y="2156520"/>
            <a:ext cx="4048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= Typ als Parameter übergeben</a:t>
            </a:r>
            <a:endParaRPr lang="en-US" sz="15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Eine Funktion, viele Typen, volle Typ-Sicherheit!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25068" y="3223320"/>
            <a:ext cx="329371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&lt;T&gt; ist wie ein Platzhalter,</a:t>
            </a:r>
            <a:endParaRPr lang="en-US" sz="13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 beim Aufruf mit echtem Typ ersetzt wird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Asynchrone Operationen handhaben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Promise&lt;T&gt; für typisierte Promises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then/catch/finally Ketten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in Promise-Ketten</a:t>
            </a:r>
            <a:endParaRPr lang="en-US" sz="13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Promise erstellen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fetchData(url: string): Promise&lt;string&gt;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new Promise((resolve, reject) =&gt;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143000" y="1945779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setTimeout(() =&gt; {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295400" y="2127052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resolve("Daten empfangen");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3083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}, 1000);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4895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6708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0045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Promise verwenden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318581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fetchData("/api/users")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90600" y="3367088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.then(data =&gt; console.log(data))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90600" y="354836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.catch(error =&gt; console.error(error));</a:t>
            </a:r>
            <a:endParaRPr lang="en-US" sz="102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Chaining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Mehrere asynchrone Operationen verketten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fetch("/api/user/1")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.then(response =&gt; response.json())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9457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.then(user =&gt; {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143000" y="212705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console.log(user.name);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3083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fetch(`/api/posts/${user.id}`);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4895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6708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.then(response =&gt; response.json())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90600" y="285214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.then(posts =&gt; console.log(posts))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90600" y="3033415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.catch(error =&gt; console.error(error))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90600" y="3214688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.finally(() =&gt; console.log("Fertig"));</a:t>
            </a:r>
            <a:endParaRPr lang="en-US" sz="102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15530"/>
            <a:ext cx="7924800" cy="17183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Funktionen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pausiert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 Fehler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967930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 function fetchData(): Promise&lt;string&gt; {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313848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try {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1066800" y="330904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response = await fetch(url);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1066800" y="3479602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await response.text();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14400" y="3650159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 catch (error) {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066800" y="3820716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console.error(error);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914400" y="399127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62000" y="4161830"/>
            <a:ext cx="7772400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Fehlerbehandlung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Error-Klassen erstellen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Typsichere Fehler-Objekte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Validierung mit Type Guards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Result-Pattern für Fehler</a:t>
            </a:r>
            <a:endParaRPr lang="en-US" sz="13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Error-Klassen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ValidationError extends Error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constructor(public field: string, message: string)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1143000" y="1764506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super(message);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143000" y="1945779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this.name = "ValidationError";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1270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3083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validateAge(age: number): void {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8232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(age &lt; 0 || age &gt; 150) {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143000" y="300454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throw new ValidationError("age", "Alter ungültig");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90600" y="3185815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3367088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Pattern - Typsichere Fehler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type Result&lt;T, E&gt; = { ok: true; value: T } | { ok: false; error: E };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7249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function divide(a: number, b: number): Result&lt;number, string&gt; {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90600" y="189547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(b === 0) {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1143000" y="2066032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{ ok: false, error: "Division durch Null" };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990600" y="2236589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90600" y="2407146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{ ok: true, value: a / b };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38200" y="257770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38200" y="2900660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result = divide(10, 2);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30712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(result.ok) {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990600" y="3241774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console.log(result.value);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5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38200" y="341233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 else {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990600" y="3582888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console.error(result.error);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38200" y="375344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API - Das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Monate starten bei 0 (Januar = 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Zeitzone-Unterstützung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Inkonsistente Parse-Methoden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Mutierbare Objekte (nicht immutable)</a:t>
            </a:r>
            <a:endParaRPr lang="en-US" sz="13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API - Verwirrende Beispiele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Problem 1: Monat 0 = Januar!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5725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 Date(2024, 0, 15);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15. Januar ✗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38200" y="174307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 Date(2024, 11, 25);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25. Dezember ✗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38200" y="206603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Problem 2: Mutation!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38200" y="2236589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date = new Date();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38200" y="2407146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date.setMonth(5);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Verändert Original! ✗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38200" y="273010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Problem 3: Inkonsistentes Parsing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38200" y="2900660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 Date("2024-01-15");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UTC Mitternacht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30712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 Date("2024/01/15");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Lokale Zeit! ✗</a:t>
            </a:r>
            <a:endParaRPr lang="en-US" sz="96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Date API Fallen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getDay() gibt Wochentag (0=Sonntag!)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5725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date = new Date(2024, 0, 15);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38200" y="174307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date.getDay();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 = Montag (0 wäre Sonntag!)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38200" y="206603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getYear() ist deprecated! Nutze getFullYear()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38200" y="2236589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date.getYear();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124 (!!!) ✗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38200" y="2407146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date.getFullYear();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2024 ✓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38200" y="273010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Keine Zeitzone-Unterstützung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38200" y="2900660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date.toString();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Lokale Zeitzone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30712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date.toISOString();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UTC - Inkonsistent! ✗</a:t>
            </a:r>
            <a:endParaRPr lang="en-US" sz="96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 Lösungen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API (Stage 3, bald Standard)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date-fns (beliebte Library)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Luxon (Nachfolger von Moment.js)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Day.js (leichtgewichtig)</a:t>
            </a:r>
            <a:endParaRPr lang="en-US" sz="13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API - Grundlagen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PlainDate - Nur Datum (kein Zeitzone-Chaos!)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date = Temporal.PlainDate.from('2024-01-15');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7645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date.month;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 (Januar ist 1, nicht 0!) ✓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981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PlainTime - Nur Uhrzeit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time = Temporal.PlainTime.from('14:30:00');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6131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PlainDateTime - Datum + Zeit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7943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dateTime = Temporal.PlainDateTime.from(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9756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'2024-01-15T14:30:00'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1569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);</a:t>
            </a:r>
            <a:endParaRPr lang="en-US" sz="102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API - Operationen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date = Temporal.PlainDate.from('2024-01-15');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7249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Immutable - Gibt neue Instanz zurück ✓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38200" y="189547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nextWeek = date.add({ days: 7 });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38200" y="206603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console.log(date);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Unverändert! ✓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38200" y="2388989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Vergleiche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38200" y="2559546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Temporal.PlainDate.compare(date, nextWeek);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-1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38200" y="288250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Differenz berechnen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38200" y="3053060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diff = nextWeek.since(date);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32236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diff.days; </a:t>
            </a:r>
            <a:r>
              <a:rPr lang="en-US" sz="96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7</a:t>
            </a:r>
            <a:endParaRPr lang="en-US" sz="96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API - Zeitzonen richtig!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ZonedDateTime - Mit Zeitzone ✓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berlin = Temporal.ZonedDateTime.from({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year: 2024, month: 1, day: 15,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9457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hour: 14, minute: 30,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1270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timeZone: 'Europe/Berlin'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3083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In andere Zeitzone konvertieren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8232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newYork = berlin.withTimeZone('America/New_York');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0045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newYork.hour;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8 (automatisch umgerechnet!) ✓</a:t>
            </a:r>
            <a:endParaRPr lang="en-US" sz="102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date-fns - Bessere API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addDays, format, isAfter } from 'date-fns';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7356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heute = new Date();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9169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in7Tagen = addDays(heute, 7);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2505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Immutable - Original bleibt unverändert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4318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console.log(heute);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Unverändert ✓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7655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format(in7Tagen, 'dd.MM.yyyy');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9467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isAfter(in7Tagen, heute);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true</a:t>
            </a:r>
            <a:endParaRPr lang="en-US" sz="102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Generische Storage-Klasse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Generische Storage&lt;T&gt; Klasse erstellen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Methoden: add(), get(), getAll()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verschiedenen Typen testen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Jest-Tests mit ChatGPT-Unterstützung</a:t>
            </a:r>
            <a:endParaRPr lang="en-US" sz="13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80265" y="2023170"/>
            <a:ext cx="118346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88796" y="2800350"/>
            <a:ext cx="25662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Angular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Mode aktivieren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vermeiden, unknown bevorzugen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für Objekt-Typen nutzen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Explizite Rückgabetypen bei Funktionen</a:t>
            </a:r>
            <a:endParaRPr lang="en-US" sz="13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42022"/>
            <a:ext cx="7924800" cy="16918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Code-Qualität &amp; Tooling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361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für Code-Standards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Prettier für Formatierung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Conventions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JSDoc Dokumentation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994422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.eslintrc.json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3154412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314402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"parser": "@typescript-eslint/parser",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474393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"extends": ["eslint:recommended"]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2000" y="3634383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3870573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.prettierrc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2000" y="4030563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 "semi": true, "singleQuote": true }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mit Jest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für Funktionen &amp; Klassen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Mocking von Dependencies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Asynchrone Tests mit async/await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Coverage messen</a:t>
            </a:r>
            <a:endParaRPr lang="en-US" sz="13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Setup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Installation: npm install --save-dev jest @types/jest ts-jest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jest.config.js für TypeScript konfigurieren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in package.json hinzufügen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Testdateien: *.test.ts oder *.spec.ts</a:t>
            </a:r>
            <a:endParaRPr lang="en-US" sz="13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- Grundlegende Syntax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describe('Calculator', () =&gt;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test('adds two numbers', () =&gt; {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1143000" y="1764506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expect(add(2, 3)).toBe(5);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9457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2032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test('subtracts numbers', () =&gt; {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3845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expect(subtract(5, 3)).toBe(2);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5657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7470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Matchers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toBe() - Strikte Gleichheit (===)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toEqual() - Wert-Gleichheit für Objekte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toBeTruthy() / toBeFalsy() - Boolean-Tests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toContain() - Array/String enthält Wert</a:t>
            </a:r>
            <a:endParaRPr lang="en-US" sz="13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Matchers - Beispiele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expect(5 + 3).toBe(8);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5725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expect({ name: 'Max' }).toEqual({ name: 'Max' });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38200" y="181927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expect([1, 2, 3]).toContain(2);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38200" y="198983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expect('Hello World').toMatch(/World/);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38200" y="2236589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expect(null).toBeNull();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38200" y="2407146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expect(undefined).toBeUndefined();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38200" y="2653903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expect(10).toBeGreaterThan(5);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38200" y="2824460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expect(5).toBeLessThanOrEqual(5);</a:t>
            </a:r>
            <a:endParaRPr lang="en-US" sz="96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Klassen testen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Counter {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990600" y="1572518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private count = 0;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90600" y="174307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increment() { this.count++; }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990600" y="1913632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getCount() { return this.count; }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38200" y="2084189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38200" y="2407146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describe('Counter', () =&gt; {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990600" y="2577703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test('starts at 0', () =&gt; {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1143000" y="2748260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counter = new Counter();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1143000" y="2918817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expect(counter.getCount()).toBe(0);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990600" y="3089374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38200" y="325993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96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Teardown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beforeEach() - Vor jedem Test ausführen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afterEach() - Nach jedem Test aufräumen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beforeAll() - Einmalig vor allen Tests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afterAll() - Einmalig nach allen Tests</a:t>
            </a:r>
            <a:endParaRPr lang="en-US" sz="13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Teardown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describe('Database', () =&gt;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db: Database;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8407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beforeEach(() =&gt; {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143000" y="2021979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db = new Database();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143000" y="220325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db.connect();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38452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6419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afterEach(() =&gt; {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143000" y="2823270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db.disconnect();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90600" y="300454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3185815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Mocking - Warum?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Dependencies isolieren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schneller &amp; zuverlässiger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echten API-Calls in Tests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Kontrolle über Testdaten</a:t>
            </a:r>
            <a:endParaRPr lang="en-US" sz="13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Functions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Mock Function erstellen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mockFn = jest.fn();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7645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mockFn.mockReturnValue(42);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981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Aufrufe prüfen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mockFn();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4607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expect(mockFn).toHaveBeenCalled();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19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expect(mockFn).toHaveBeenCalledTimes(1);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8232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expect(mockFn()).toBe(42);</a:t>
            </a:r>
            <a:endParaRPr lang="en-US" sz="102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Mocking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API Service mocken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jest.mock('./api-service');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9169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ApiService } from './api-service';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2505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test('fetches data', async () =&gt; {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4318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mockData = { id: 1, name: 'Test' };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61312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(ApiService.getData as jest.Mock)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143000" y="2794397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.mockResolvedValue(mockData);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Asynchrone Tests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 in Tests verwenden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mit .resolves / .rejects testen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 für langsame Operations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Callback für Callbacks</a:t>
            </a:r>
            <a:endParaRPr lang="en-US" sz="13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Test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test('fetches user data', async () =&gt;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user = await fetchUser(1);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expect(user.name).toBe('Max');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19457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94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test('handles error', async () =&gt; {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46072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await expect(fetchUser(-1))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143000" y="2641997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.rejects.toThrow('Invalid ID');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8232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Coverage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--coverage ausführen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Zeigt ungetestete Code-Bereiche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Hohe Coverage, aber sinnvoll!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Coverage-Berichte in HTML verfügbar</a:t>
            </a:r>
            <a:endParaRPr lang="en-US" sz="13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Test testet nur EINE Sache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müssen unabhängig voneinander sein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Beschreibende Testnamen verwenden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Arrange-Act-Assert Pattern</a:t>
            </a:r>
            <a:endParaRPr lang="en-US" sz="13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Arrange-Act-Assert Pattern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test('calculator adds numbers', () =&gt; {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Arrange - Setup vorbereiten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calculator = new Calculator();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9457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a = 5, b = 3;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2032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Act - Aktion ausführen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38452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result = calculator.add(a, b);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6419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Assert - Ergebnis prüfen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8232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expect(result).toBe(8);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0045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in Angular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basiert vollständig auf TypeScript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Komponenten sind TypeScript-Klassen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mit Dependency Injection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Typsichere Templates</a:t>
            </a:r>
            <a:endParaRPr lang="en-US" sz="13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CLI - Grundlagen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new projektname - Neues Projekt erstellen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serve - Development Server starten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generate component name - Komponente erstellen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build - Produktions-Build erstellen</a:t>
            </a:r>
            <a:endParaRPr lang="en-US" sz="13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CLI - Code generieren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Komponente generieren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 generate component user-list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9169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Service generieren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981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 generate service user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4318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Modul generieren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6131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 generate module shared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9467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Kurzform mit 'g' und 'c'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31280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 g c user-profile</a:t>
            </a:r>
            <a:endParaRPr lang="en-US" sz="102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Komponenten - Struktur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@Component Decorator für Metadaten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(HTML) &amp; Styles (CSS)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TypeScript-Klasse mit Logik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&amp; Methods typisieren</a:t>
            </a:r>
            <a:endParaRPr lang="en-US" sz="13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Komponente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Component } from '@angular/core';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8200" y="1638151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@Component({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600" y="1798141"/>
            <a:ext cx="7461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selector: 'app-user-list',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600" y="1958132"/>
            <a:ext cx="7461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templateUrl: './user-list.component.html',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0600" y="2118122"/>
            <a:ext cx="7461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styleUrls: ['./user-list.component.css']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8200" y="2278112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8200" y="2438102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export class UserListComponent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0600" y="2598093"/>
            <a:ext cx="7461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users: User[] = [];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0600" y="2758083"/>
            <a:ext cx="7461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selectedUser?: User;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90600" y="2994273"/>
            <a:ext cx="7461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selectUser(user: User): void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263"/>
            <a:ext cx="73060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this.selectedUser = user;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600" y="3314254"/>
            <a:ext cx="7461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8200" y="3474244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32843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1554361"/>
            <a:ext cx="7315200" cy="441871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114300" tIns="114300" rIns="114300" bIns="1143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AppComponent (Root)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67929" y="2148632"/>
            <a:ext cx="1604963" cy="441871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14300" tIns="114300" rIns="114300" bIns="1143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HeaderComponent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77692" y="2148632"/>
            <a:ext cx="1788468" cy="441871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14300" tIns="114300" rIns="114300" bIns="1143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MainComponent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7692" y="3062883"/>
            <a:ext cx="1788468" cy="441871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114300" tIns="114300" rIns="114300" bIns="1143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UserListComponent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70959" y="2148632"/>
            <a:ext cx="1604963" cy="441871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14300" tIns="114300" rIns="114300" bIns="1143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FooterComponent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Komponenten-Baumstruktur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659807" y="2666702"/>
            <a:ext cx="18242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@Input &amp; @Output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@Input() - Daten von Parent empfangen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@Output() - Events an Parent senden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EventEmitter für Custom Events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Typisierung für Typ-Sicherheit</a:t>
            </a:r>
            <a:endParaRPr lang="en-US" sz="13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@Input &amp; @Output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Component, Input, Output, EventEmitter } from '@angular/core';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6487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@Component({ selector: 'app-user-card' })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38200" y="181927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export class UserCardComponent {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990600" y="1989832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@Input() user!: User;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990600" y="2160389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@Output() userSelected = new EventEmitter&lt;User&gt;();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90600" y="2407146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onSelect(): void {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143000" y="2577703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this.userSelected.emit(this.user);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990600" y="2748260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29188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- Das neue Reaktivitätsmodell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 Angular 16 verfügbar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Einfachere Alternative zu RxJS Observables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Change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Bessere Performance</a:t>
            </a:r>
            <a:endParaRPr lang="en-US" sz="13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- Grundlagen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signal } from '@angular/core';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7356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Signal erstellen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9169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count = signal(0);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2505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Wert lesen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4318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console.log(this.count());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0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7655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Wert setzen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9467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this.count.set(5);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32804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Wert updaten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346174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this.count.update(val =&gt; val + 1);</a:t>
            </a:r>
            <a:endParaRPr lang="en-US" sz="102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Signals - Abgeleitete Werte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signal, computed } from '@angular/core';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7356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count = signal(5);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20693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Automatisch neu berechnet wenn count ändert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2505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doubleCount = computed(() =&gt; this.count() * 2);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584252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console.log(this.doubleCount());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10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91792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this.count.set(10);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3099197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console.log(this.doubleCount()); </a:t>
            </a:r>
            <a:r>
              <a:rPr lang="en-US" sz="1020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20 (automatisch!)</a:t>
            </a:r>
            <a:endParaRPr lang="en-US" sz="102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- Side Effects mit Signals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signal, effect } from '@angular/core';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7356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count = signal(0);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20693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Wird ausgeführt wenn count sich ändert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2505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constructor() {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4318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effect(() =&gt; {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6131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console.log(`Count ist: ${this.count()}`);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7943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9756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vs Observables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Signals: Einfacher, synchron, für State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Observables: Für async Daten, HTTP, Events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können kombiniert werden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= Zukunft von Angular</a:t>
            </a:r>
            <a:endParaRPr lang="en-US" sz="13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Services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@Injectable Decorator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&amp; Datenverwaltung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Wiederverwendbar über Komponenten hinweg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HttpClient für API-Calls</a:t>
            </a:r>
            <a:endParaRPr lang="en-US" sz="13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Injectable } from '@angular/core';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5725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HttpClient } from '@angular/common/http';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38200" y="1819275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@Injectable({ providedIn: 'root' })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38200" y="1989832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export class UserService {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990600" y="2160389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constructor(private http: HttpClient) {}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90600" y="2407146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getUsers(): Observable&lt;User[]&gt; {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143000" y="2577703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this.http.get&lt;User[]&gt;('/api/users');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990600" y="2748260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38200" y="2918817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 (DI)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Core-Feature von Angular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werden "injected", nicht manuell erstellt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Bessere Testbarkeit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Kopplung zwischen Komponenten</a:t>
            </a:r>
            <a:endParaRPr lang="en-US" sz="13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- Verwendung in Komponente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Component, OnInit } from '@angular/core';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38200" y="1583234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UserService } from './user.service';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38200" y="1840706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@Component({ selector: 'app-user-list' })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21979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export class UserListComponent implements OnInit {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2032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users: User[] = [];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46072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Service wird injected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6419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constructor(private userService: UserService) {}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90600" y="2899470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ngOnInit() {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143000" y="3080742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this.userService.getUsers().subscribe(...);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90600" y="3262015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3443288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Hierarchie - 3 Ebenen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Root: providedIn: 'root' - App-weit, Singleton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providers Array im @NgModule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Component: providers im @Component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Kind-Komponenten erben von Eltern</a:t>
            </a:r>
            <a:endParaRPr lang="en-US" sz="13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34743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1554361"/>
            <a:ext cx="7315200" cy="518071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Injector (providedIn: 'root')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727722"/>
            <a:ext cx="7315200" cy="518071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Injector (NgModule providers)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3901083"/>
            <a:ext cx="7315200" cy="518071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Injector (@Component providers)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Hierarchie - Visualisierung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1248" y="2224832"/>
            <a:ext cx="74615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3398193"/>
            <a:ext cx="74615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Scope - Wann welche Ebene?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Meistens! HttpClient, globaler State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Feature-spezifische Services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Nur für diese Komponente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Regel: So global wie nötig, so lokal wie möglich</a:t>
            </a:r>
            <a:endParaRPr lang="en-US" sz="13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Hooks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ngOnInit - Nach Initialisierung (häufigster Hook)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ngOnChanges - Bei Input-Änderungen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ngOnDestroy - Vor Komponenten-Zerstörung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ngAfterViewInit - Nach View-Initialisierung</a:t>
            </a:r>
            <a:endParaRPr lang="en-US" sz="13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Hooks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export class UserComponent implements OnInit, OnDestroy {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990600" y="1572518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subscription?: Subscription;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90600" y="181927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ngOnInit(): void {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1143000" y="1989832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Initialisierung, API-Calls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1143000" y="2160389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this.subscription = this.userService.getUsers()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295400" y="2330946"/>
            <a:ext cx="715060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.subscribe(users =&gt; this.users = users);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990600" y="2501503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990600" y="2748260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ngOnDestroy(): void {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1143000" y="2918817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Aufräumen, Subscriptions beenden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143000" y="3089374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this.subscription?.unsubscribe();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990600" y="3259931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38200" y="343048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RxJS in Angular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Observables für asynchrone Datenströme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HttpClient gibt Observables zurück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Operatoren: map, filter, tap, switchMap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Management wichtig!</a:t>
            </a:r>
            <a:endParaRPr lang="en-US" sz="13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RxJS Operatoren - Beispiele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this.userService.getUsers().pipe(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Daten transformieren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90600" y="1764506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map(users =&gt; users.filter(u =&gt; u.active)),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2021979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Side Effect (z.B. Logging)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203252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tap(users =&gt; console.log(users)),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90600" y="246072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Error Handling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90600" y="2641997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catchError(error =&gt; of([]))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2823270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).subscribe(users =&gt; this.users = users);</a:t>
            </a:r>
            <a:endParaRPr lang="en-US" sz="102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Formulare in Angular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Template-Driven Forms - Einfach, weniger Kontrolle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Forms - Typsicher, mehr Kontrolle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FormControl, FormGroup, FormBuilder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Validierung mit TypeScript</a:t>
            </a:r>
            <a:endParaRPr lang="en-US" sz="13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Forms - Beispiel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{ FormBuilder, Validators } from '@angular/forms';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38200" y="164871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export class UserFormComponent {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90600" y="1819275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userForm = this.fb.group({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1143000" y="1989832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name: ['', [Validators.required, Validators.minLength(3)]],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1143000" y="2160389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email: ['', [Validators.required, Validators.email]],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143000" y="2330946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age: [0, [Validators.min(0), Validators.max(150)]],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990600" y="2501503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});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990600" y="2748260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constructor(private fb: FormBuilder) {}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990600" y="2995017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onSubmit(): void {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143000" y="3165574"/>
            <a:ext cx="730605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(this.userForm.valid) { ... }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990600" y="3336131"/>
            <a:ext cx="746150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38200" y="3506688"/>
            <a:ext cx="7616952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Routing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RouterModule für Navigation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mit path &amp; component definieren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RouterLink für Navigation im Template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Parameters typisieren</a:t>
            </a:r>
            <a:endParaRPr lang="en-US" sz="13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Todo-App in Angular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Komponenten für Liste &amp; Formular erstellen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für Todo-Verwaltung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Forms für neue Todos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mit Jasmine &amp; Karma</a:t>
            </a:r>
            <a:endParaRPr lang="en-US" sz="13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optimal nutzen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Compiler-Fehler erklären lassen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Code-Reviews &amp; Best Practices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Test-Cases generieren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Refactoring-Vorschläge einholen</a:t>
            </a:r>
            <a:endParaRPr lang="en-US" sz="13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Zusammenfassung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Typsystem &amp; Grundlagen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OOP, Interfaces, Generics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Async/Await, Error Handling, Testing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mit TypeScript Best Practices</a:t>
            </a:r>
            <a:endParaRPr lang="en-US" sz="13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Weiterführende Ressourcen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Handbook: typescriptlang.org/docs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Docs: angular.io/docs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Repo: github.com/SaschaLeh/typescript-schulung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für kontinuierliches Lernen</a:t>
            </a:r>
            <a:endParaRPr lang="en-US" sz="13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Projekt-Struktur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src/app - Hauptordner für Anwendung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 - UI-Komponenten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 - Business Logic &amp;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 - TypeScript Interfaces</a:t>
            </a:r>
            <a:endParaRPr lang="en-US" sz="13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Typische Ordnerstruktur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1961"/>
            <a:ext cx="761695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src/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990600" y="1583234"/>
            <a:ext cx="746150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app/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1143000" y="1764506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components/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295400" y="1945779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user-list/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295400" y="2127052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user-detail/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2308324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services/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295400" y="2489597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user.service.ts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143000" y="2670870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models/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5400" y="2852142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user.model.ts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143000" y="3033415"/>
            <a:ext cx="730605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shared/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295400" y="3214688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pipes/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295400" y="3395960"/>
            <a:ext cx="715060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directives/</a:t>
            </a:r>
            <a:endParaRPr lang="en-US" sz="102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Abschlussprojekt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Einfaches Web-Interface mit Angular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Typisierte Datenmodelle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mit Mock-Backend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Best Practices anwenden</a:t>
            </a:r>
            <a:endParaRPr lang="en-US" sz="13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im Projekt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Architektur-Entscheidungen diskutieren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&amp; Refactoring-Tipps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generieren &amp; optimieren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Fehlersuche &amp; Debugging-Hilfe</a:t>
            </a:r>
            <a:endParaRPr lang="en-US" sz="13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haben wir gelernt?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Grundlagen &amp; Typsystem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mit Klassen &amp; Interfaces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Types &amp; Generics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Asynchrone Programmierung</a:t>
            </a:r>
            <a:endParaRPr lang="en-US" sz="13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Weiterführende Themen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Generics &amp; Mapped Types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Decorators &amp; Metaprogrammierung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Performance-Optimierung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Architektur-Patterns</a:t>
            </a:r>
            <a:endParaRPr lang="en-US" sz="13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6613" y="1765995"/>
            <a:ext cx="279062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64663" y="2619375"/>
            <a:ext cx="1814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&amp; Feedback?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81317" y="3190875"/>
            <a:ext cx="27813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GFU Cyrus AG | typescript-workshop@gfu.net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5976</Words>
  <Application>Microsoft Macintosh PowerPoint</Application>
  <PresentationFormat>On-screen Show (16:9)</PresentationFormat>
  <Paragraphs>1171</Paragraphs>
  <Slides>137</Slides>
  <Notes>137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0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Sascha Lehmann</cp:lastModifiedBy>
  <cp:revision>2</cp:revision>
  <dcterms:created xsi:type="dcterms:W3CDTF">2026-02-24T07:34:17Z</dcterms:created>
  <dcterms:modified xsi:type="dcterms:W3CDTF">2026-02-26T07:13:49Z</dcterms:modified>
</cp:coreProperties>
</file>